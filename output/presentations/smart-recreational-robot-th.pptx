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94c197acb4e7a" /><Relationship Type="http://schemas.openxmlformats.org/officeDocument/2006/relationships/extended-properties" Target="/docProps/app.xml" Id="R881489dcc40f48e5" /><Relationship Type="http://schemas.openxmlformats.org/officeDocument/2006/relationships/officeDocument" Target="/ppt/presentation.xml" Id="Rb47f7d5d0972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cd3088fb6480c"/>
  </p:sldMasterIdLst>
  <p:notesMasterIdLst>
    <p:notesMasterId xmlns:r="http://schemas.openxmlformats.org/officeDocument/2006/relationships" r:id="R80d0fb71d25b44a6"/>
  </p:notesMasterIdLst>
  <p:sldIdLst>
    <p:sldId xmlns:r="http://schemas.openxmlformats.org/officeDocument/2006/relationships" id="256" r:id="R6cf97f72e6e94d50"/>
    <p:sldId xmlns:r="http://schemas.openxmlformats.org/officeDocument/2006/relationships" id="257" r:id="R88df3c471c224573"/>
    <p:sldId xmlns:r="http://schemas.openxmlformats.org/officeDocument/2006/relationships" id="258" r:id="R3fcee294fa4d4656"/>
    <p:sldId xmlns:r="http://schemas.openxmlformats.org/officeDocument/2006/relationships" id="259" r:id="R309039ba93604b67"/>
    <p:sldId xmlns:r="http://schemas.openxmlformats.org/officeDocument/2006/relationships" id="260" r:id="R97af7333d9f94a5e"/>
    <p:sldId xmlns:r="http://schemas.openxmlformats.org/officeDocument/2006/relationships" id="261" r:id="R71caea00ec414168"/>
    <p:sldId xmlns:r="http://schemas.openxmlformats.org/officeDocument/2006/relationships" id="262" r:id="R75adae7b08c44bf2"/>
    <p:sldId xmlns:r="http://schemas.openxmlformats.org/officeDocument/2006/relationships" id="263" r:id="Rb393eb71b7b840d6"/>
    <p:sldId xmlns:r="http://schemas.openxmlformats.org/officeDocument/2006/relationships" id="264" r:id="R25c7fb0601bc4d29"/>
    <p:sldId xmlns:r="http://schemas.openxmlformats.org/officeDocument/2006/relationships" id="265" r:id="R7e019c1db458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48af9b71a4fce" /><Relationship Type="http://schemas.openxmlformats.org/officeDocument/2006/relationships/slideMaster" Target="/ppt/slideMasters/slideMaster1.xml" Id="R2a8cd3088fb6480c" /><Relationship Type="http://schemas.openxmlformats.org/officeDocument/2006/relationships/notesMaster" Target="/ppt/notesMasters/notesMaster1.xml" Id="R80d0fb71d25b44a6" /><Relationship Type="http://schemas.openxmlformats.org/officeDocument/2006/relationships/presProps" Target="/ppt/presProps.xml" Id="R9b9f01ffa29f4740" /><Relationship Type="http://schemas.openxmlformats.org/officeDocument/2006/relationships/tableStyles" Target="/ppt/tableStyles.xml" Id="R7f3180819a0b4564" /><Relationship Type="http://schemas.openxmlformats.org/officeDocument/2006/relationships/slide" Target="/ppt/slides/slide1.xml" Id="R6cf97f72e6e94d50" /><Relationship Type="http://schemas.openxmlformats.org/officeDocument/2006/relationships/slide" Target="/ppt/slides/slide2.xml" Id="R88df3c471c224573" /><Relationship Type="http://schemas.openxmlformats.org/officeDocument/2006/relationships/slide" Target="/ppt/slides/slide3.xml" Id="R3fcee294fa4d4656" /><Relationship Type="http://schemas.openxmlformats.org/officeDocument/2006/relationships/slide" Target="/ppt/slides/slide4.xml" Id="R309039ba93604b67" /><Relationship Type="http://schemas.openxmlformats.org/officeDocument/2006/relationships/slide" Target="/ppt/slides/slide5.xml" Id="R97af7333d9f94a5e" /><Relationship Type="http://schemas.openxmlformats.org/officeDocument/2006/relationships/slide" Target="/ppt/slides/slide6.xml" Id="R71caea00ec414168" /><Relationship Type="http://schemas.openxmlformats.org/officeDocument/2006/relationships/slide" Target="/ppt/slides/slide7.xml" Id="R75adae7b08c44bf2" /><Relationship Type="http://schemas.openxmlformats.org/officeDocument/2006/relationships/slide" Target="/ppt/slides/slide8.xml" Id="Rb393eb71b7b840d6" /><Relationship Type="http://schemas.openxmlformats.org/officeDocument/2006/relationships/slide" Target="/ppt/slides/slide9.xml" Id="R25c7fb0601bc4d29" /><Relationship Type="http://schemas.openxmlformats.org/officeDocument/2006/relationships/slide" Target="/ppt/slides/slide10.xml" Id="R7e019c1db458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15e6811d3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bcfb751ba145d2" /><Relationship Type="http://schemas.openxmlformats.org/officeDocument/2006/relationships/notesMaster" Target="/ppt/notesMasters/notesMaster1.xml" Id="R90dd76241e4240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c5ca075604ff9" /><Relationship Type="http://schemas.openxmlformats.org/officeDocument/2006/relationships/notesMaster" Target="/ppt/notesMasters/notesMaster1.xml" Id="R68d33ac66f8a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8c18254414305" /><Relationship Type="http://schemas.openxmlformats.org/officeDocument/2006/relationships/notesMaster" Target="/ppt/notesMasters/notesMaster1.xml" Id="R62bfd2e301a1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efdc19b8945fe" /><Relationship Type="http://schemas.openxmlformats.org/officeDocument/2006/relationships/notesMaster" Target="/ppt/notesMasters/notesMaster1.xml" Id="R9e070eda77d546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ffd5e1bafd4163" /><Relationship Type="http://schemas.openxmlformats.org/officeDocument/2006/relationships/notesMaster" Target="/ppt/notesMasters/notesMaster1.xml" Id="R411a3269005444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888d69099044bf" /><Relationship Type="http://schemas.openxmlformats.org/officeDocument/2006/relationships/notesMaster" Target="/ppt/notesMasters/notesMaster1.xml" Id="Rf12487bf48cf48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dfc7bf44934757" /><Relationship Type="http://schemas.openxmlformats.org/officeDocument/2006/relationships/notesMaster" Target="/ppt/notesMasters/notesMaster1.xml" Id="Rd7abcb6d894242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41a688ba5346ae" /><Relationship Type="http://schemas.openxmlformats.org/officeDocument/2006/relationships/notesMaster" Target="/ppt/notesMasters/notesMaster1.xml" Id="R3908449f7da4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996b3be0874021" /><Relationship Type="http://schemas.openxmlformats.org/officeDocument/2006/relationships/notesMaster" Target="/ppt/notesMasters/notesMaster1.xml" Id="R65189f46c5cd4c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feb33c8b8b4ff5" /><Relationship Type="http://schemas.openxmlformats.org/officeDocument/2006/relationships/notesMaster" Target="/ppt/notesMasters/notesMaster1.xml" Id="R9579a720ae9d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แนะนำโครงงานหุ่นยนต์สันทนาการที่ใช้ ESP32 เป็นตัวควบคุม หุ่นยนต์รวมการเล่นเพลง การแสดงสีหน้า การขยับแขน และการเดินหลบสิ่งกีดขวาง ภาพบนปกเป็นภาพแนวคิดสร้างด้วย ImageGen ไม่ใช่ภาพหุ่นยนต์จริงของโครงงาน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โครงงานนี้มุ่งใช้หุ่นยนต์ในกิจกรรมสันทนาการและการเรียนรู้ ผู้ใช้ควบคุมจากมือถือผ่าน Wi-Fi ได้ และเลือกการตอบสนองจากเสียงหรือการเดินอิสระ คำว่าอัจฉริยะในโครงงานหมายถึงการอ่านเซนเซอร์และทำงานตามกฎของโปรแกรม ไม่ได้ระบุการใช้โมเดล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C:\Users\KPG_G\OneDrive\Documents\Arduino\sketch_oct2a\README.md</a:t>
            </a:r>
          </a:p>
          <a:p xmlns:a="http://schemas.openxmlformats.org/drawingml/2006/main">
            <a:r>
              <a:t>C:\Users\KPG_G\OneDrive\Documents\Arduino\sketch_oct2a\RecreationEngine.h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รายการหลักมีเก้าประเภท เซอร์โวสามตัวแยกเป็นหัวหนึ่งตัวและแขนสองตัว มอเตอร์ TT และโมดูล Step-down มาจากรายการอุปกรณ์ที่สรุปไว้ในบทสนทนาเดิม รุ่นเซอร์โวและรายละเอียดแบตเตอรี่ยังไม่ได้ระบุ กระแส 3A เป็นพิกัดโมดูลที่ระบุ ไม่ใช่ผลวัดการใช้กระแสของหุ่นยนต์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C:\Users\KPG_G\OneDrive\Documents\Arduino\sketch_oct2a\README.md</a:t>
            </a:r>
          </a:p>
          <a:p xmlns:a="http://schemas.openxmlformats.org/drawingml/2006/main">
            <a:r>
              <a:t>C:\Users\KPG_G\OneDrive\Documents\Arduino\sketch_oct2a\Config.h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ESP32 รับข้อมูลเซนเซอร์และประสานการทำงานของอุปกรณ์ HC-SR05 ติดกับชุดที่หัวหมุนเพื่อวัดหลายทิศทาง KY-037 ตรวจระดับเสียงและใช้ตรวจจังหวะหรือเสียงปรบมือ ไม่ใช่ระบบรู้จำคำพูด ระบบปัจจุบันใช้การเดินหลบสิ่งกีดขวางและไม่มีโหมดตามคน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C:\Users\KPG_G\OneDrive\Documents\Arduino\sketch_oct2a\Config.h</a:t>
            </a:r>
          </a:p>
          <a:p xmlns:a="http://schemas.openxmlformats.org/drawingml/2006/main">
            <a:r>
              <a:t>C:\Users\KPG_G\OneDrive\Documents\Arduino\sketch_oct2a\SensorManager.h</a:t>
            </a:r>
          </a:p>
          <a:p xmlns:a="http://schemas.openxmlformats.org/drawingml/2006/main">
            <a:r>
              <a:t>C:\Users\KPG_G\OneDrive\Documents\Arduino\sketch_oct2a\SensorManager.cpp</a:t>
            </a:r>
          </a:p>
          <a:p xmlns:a="http://schemas.openxmlformats.org/drawingml/2006/main">
            <a:r>
              <a:t>C:\Users\KPG_G\OneDrive\Documents\Arduino\sketch_oct2a\RecreationEngine.h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มอเตอร์สองตัวขับล้อด้วย L9110S การสั่งล้อแต่ละข้างทำให้เดินหน้า ถอย และเลี้ยว เซอร์โวหัวหมุนเพื่อตรวจระยะด้านข้าง ส่วนแขนสองข้างขยับตามท่าที่ตั้งไว้ จอ OLED ใช้แสดงสีหน้าและบัซเซอร์สร้างเสียงตามโน้ตเพลง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C:\Users\KPG_G\OneDrive\Documents\Arduino\sketch_oct2a\MotorController.h</a:t>
            </a:r>
          </a:p>
          <a:p xmlns:a="http://schemas.openxmlformats.org/drawingml/2006/main">
            <a:r>
              <a:t>C:\Users\KPG_G\OneDrive\Documents\Arduino\sketch_oct2a\MotionSystem.h</a:t>
            </a:r>
          </a:p>
          <a:p xmlns:a="http://schemas.openxmlformats.org/drawingml/2006/main">
            <a:r>
              <a:t>C:\Users\KPG_G\OneDrive\Documents\Arduino\sketch_oct2a\FaceSystem.h</a:t>
            </a:r>
          </a:p>
          <a:p xmlns:a="http://schemas.openxmlformats.org/drawingml/2006/main">
            <a:r>
              <a:t>C:\Users\KPG_G\OneDrive\Documents\Arduino\sketch_oct2a\SongSystem.h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รายการอุปกรณ์เดิมระบุ Step-down ตั้งจ่ายไฟ 5V พิกัด 3A ส่วนประกอบโครงสร้างและแบตเตอรี่ต้องเติมตามชิ้นงานจริง ยังไม่ระบุรุ่นเซอร์โว ชนิดหรือความจุของแบตเตอรี่ รวมถึงขนาดฐาน ข้อมูลบนหน้านี้จึงไม่ใช่แผนผังการต่อวงจรหรือคำยืนยันว่ากำลังจ่ายเพียงพอ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C:\Users\KPG_G\OneDrive\Documents\Arduino\sketch_oct2a\README.md</a:t>
            </a:r>
          </a:p>
          <a:p xmlns:a="http://schemas.openxmlformats.org/drawingml/2006/main">
            <a:r>
              <a:t>C:\Users\KPG_G\OneDrive\Documents\Arduino\sketch_oct2a\Config.h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คือการควบคุมตรงจากหน้าเว็บ Party ตอบสนองต่อระดับเสียงและจังหวะ Interactive คือการเดินอิสระพร้อมหลบสิ่งกีดขวาง Showcase ใช้เพลงประกอบท่าทางและสีหน้า โหมดเดินอิสระต้องมีอุปกรณ์ที่จำเป็นพร้อมใช้งานก่อนเริ่ม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C:\Users\KPG_G\OneDrive\Documents\Arduino\sketch_oct2a\RecreationEngine.h</a:t>
            </a:r>
          </a:p>
          <a:p xmlns:a="http://schemas.openxmlformats.org/drawingml/2006/main">
            <a:r>
              <a:t>C:\Users\KPG_G\OneDrive\Documents\Arduino\sketch_oct2a\WebUI.h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ระบบวัดด้านหน้าก่อน หากพบสิ่งกีดขวางใกล้จะหยุดและถอย จากนั้นหยุดล้อระหว่างหมุนหัววัดด้านซ้ายและขวา คืนหัวกลางแล้วเลี้ยวไปด้านที่เปิดกว่า หลังเลี้ยวต้องรับการวัดด้านหน้าใหม่ก่อนเดินต่อ หากทั้งสองด้านตันจะใช้ลำดับถอยและเลี้ยวตามค่าที่กำหนด ระยะเวลาถอยและเลี้ยวเป็นเวลาสั่งงาน ไม่ใช่ระยะทางหรือมุมที่วัดได้ กรณีไม่มี echo ไม่ได้พิสูจน์ว่าพื้นที่โล่ง เนื่องจากอาจเกิดจากเซนเซอร์ขาดการเชื่อมต่อได้ และไม่มีเซนเซอร์ตรวจพื้นต่างระดับหรือด้านหลัง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C:\Users\KPG_G\OneDrive\Documents\Arduino\sketch_oct2a\ObstacleAvoidance.h</a:t>
            </a:r>
          </a:p>
          <a:p xmlns:a="http://schemas.openxmlformats.org/drawingml/2006/main">
            <a:r>
              <a:t>C:\Users\KPG_G\OneDrive\Documents\Arduino\sketch_oct2a\SonarReading.h</a:t>
            </a:r>
          </a:p>
          <a:p xmlns:a="http://schemas.openxmlformats.org/drawingml/2006/main">
            <a:r>
              <a:t>C:\Users\KPG_G\OneDrive\Documents\Arduino\sketch_oct2a\RecreationEngine.h</a:t>
            </a:r>
          </a:p>
          <a:p xmlns:a="http://schemas.openxmlformats.org/drawingml/2006/main">
            <a:r>
              <a:t>C:\Users\KPG_G\OneDrive\Documents\Arduino\sketch_oct2a\tests\VERIFICATION.md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ผู้ใช้เชื่อมเครือข่าย Wi-Fi ที่กำหนด หรือ Access Point Robot-Recreation จากนั้นเปิด IP ที่ OLED แสดง หน้าเว็บทำงานในเครือข่ายได้โดยไม่ต้องใช้อินเทอร์เน็ต มีแท็บควบคุม ตั้งค่า Hardware และสถานะระบบ การปรับพารามิเตอร์ไม่ใช่การเปลี่ยน GPIO ผ่านหน้าเว็บ สถานะพร้อมใช้งานต้องอ่านจากหุ่นยนต์จริง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C:\Users\KPG_G\OneDrive\Documents\Arduino\sketch_oct2a\README.md</a:t>
            </a:r>
          </a:p>
          <a:p xmlns:a="http://schemas.openxmlformats.org/drawingml/2006/main">
            <a:r>
              <a:t>C:\Users\KPG_G\OneDrive\Documents\Arduino\sketch_oct2a\WebUI.h</a:t>
            </a:r>
          </a:p>
          <a:p xmlns:a="http://schemas.openxmlformats.org/drawingml/2006/main">
            <a:r>
              <a:t>C:\Users\KPG_G\OneDrive\Documents\Arduino\sketch_oct2a\WebApi.h</a:t>
            </a:r>
          </a:p>
          <a:p xmlns:a="http://schemas.openxmlformats.org/drawingml/2006/main">
            <a:r>
              <a:t>C:\Users\KPG_G\OneDrive\Documents\Arduino\sketch_oct2a\RuntimeConfig.h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รายงานการตรวจวันที่ 8 ตุลาคม 2026 ระบุว่า firmware 2.3.5 คอมไพล์สำหรับ ESP32 ผ่าน และการทดสอบ JavaScript ของหน้าเว็บผ่าน 28 รายการ ตัวเลขนี้ไม่ใช่ผลทดลองความสำเร็จในการหลบสิ่งกีดขวางจริง ในรายงานรอบนี้ไม่มีการอัปโหลด firmware และยังไม่ได้ขับหุ่นยนต์จริง ก่อนสาธิตต้องตรวจการทำงานของอุปกรณ์ และทดลองการควบคุม เพลง ท่าทาง และหลบสิ่งกีดขวางในพื้นที่ควบคุม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แหล่งข้อมูล: C:\Users\KPG_G\OneDrive\Documents\Arduino\sketch_oct2a\tests\VERIFICATION.md</a:t>
            </a:r>
          </a:p>
          <a:p xmlns:a="http://schemas.openxmlformats.org/drawingml/2006/main">
            <a:r>
              <a:t>C:\Users\KPG_G\OneDrive\Documents\Arduino\sketch_oct2a\README.md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235961e6a4a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1185994ed4b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204c004f64d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08ef9c13f4a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55fa67ca74e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c59328b2249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801E89-AD43-48B3-BE55-441B4683A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576E51-C889-4DC3-98D7-42F65EF6F2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B2479C-A678-4E9E-B74D-A09A8192F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779289-0359-48BC-B6F5-CE9E18C3F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0B4AB4-2E75-4FD7-BB97-CF7895A54D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1BC3BB-BEF6-4779-95ED-56C6BACE8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D3F6AE-C765-49C8-AFFE-912724CB2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DB18CF-7798-475C-9AD5-DDBB0E8B26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A03EC9-B488-49B7-8DBD-6E7859684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D8DF50-041B-4A19-AC9A-F538D2EA1D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e1d5d5f81148e2" /><Relationship Type="http://schemas.openxmlformats.org/officeDocument/2006/relationships/slideLayout" Target="/ppt/slideLayouts/slideLayout1.xml" Id="Rc444c91875b341aa" /><Relationship Type="http://schemas.openxmlformats.org/officeDocument/2006/relationships/slideLayout" Target="/ppt/slideLayouts/slideLayout2.xml" Id="R9dfbb6c174264d70" /><Relationship Type="http://schemas.openxmlformats.org/officeDocument/2006/relationships/slideLayout" Target="/ppt/slideLayouts/slideLayout3.xml" Id="R3dfccaf1c8c04046" /><Relationship Type="http://schemas.openxmlformats.org/officeDocument/2006/relationships/slideLayout" Target="/ppt/slideLayouts/slideLayout4.xml" Id="Reb54e186ee2e47f0" /><Relationship Type="http://schemas.openxmlformats.org/officeDocument/2006/relationships/slideLayout" Target="/ppt/slideLayouts/slideLayout5.xml" Id="R7c25aca48f4b404d" /><Relationship Type="http://schemas.openxmlformats.org/officeDocument/2006/relationships/slideLayout" Target="/ppt/slideLayouts/slideLayout6.xml" Id="R0077e1e14fce49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4c91875b341aa"/>
    <p:sldLayoutId xmlns:r="http://schemas.openxmlformats.org/officeDocument/2006/relationships" id="2147483650" r:id="R9dfbb6c174264d70"/>
    <p:sldLayoutId xmlns:r="http://schemas.openxmlformats.org/officeDocument/2006/relationships" id="2147483651" r:id="R3dfccaf1c8c04046"/>
    <p:sldLayoutId xmlns:r="http://schemas.openxmlformats.org/officeDocument/2006/relationships" id="2147483652" r:id="Reb54e186ee2e47f0"/>
    <p:sldLayoutId xmlns:r="http://schemas.openxmlformats.org/officeDocument/2006/relationships" id="2147483653" r:id="R7c25aca48f4b404d"/>
    <p:sldLayoutId xmlns:r="http://schemas.openxmlformats.org/officeDocument/2006/relationships" id="2147483654" r:id="R0077e1e14fce49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2975466ae493f" /><Relationship Type="http://schemas.openxmlformats.org/officeDocument/2006/relationships/image" Target="/ppt/media/image.png" Id="R8be20170181b4e68" /><Relationship Type="http://schemas.openxmlformats.org/officeDocument/2006/relationships/notesSlide" Target="/ppt/notesSlides/notesSlide1.xml" Id="Rf33eb07a1328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ef99e93ed4cea" /><Relationship Type="http://schemas.openxmlformats.org/officeDocument/2006/relationships/notesSlide" Target="/ppt/notesSlides/notesSlide2.xml" Id="R3f99c116eefb4d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3f453cdfe47f3" /><Relationship Type="http://schemas.openxmlformats.org/officeDocument/2006/relationships/notesSlide" Target="/ppt/notesSlides/notesSlide3.xml" Id="R7ad626300a6a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3e3af3062450b" /><Relationship Type="http://schemas.openxmlformats.org/officeDocument/2006/relationships/notesSlide" Target="/ppt/notesSlides/notesSlide4.xml" Id="Rc784c516d59646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d93baab134298" /><Relationship Type="http://schemas.openxmlformats.org/officeDocument/2006/relationships/notesSlide" Target="/ppt/notesSlides/notesSlide5.xml" Id="R621c590a66e041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28001c3684789" /><Relationship Type="http://schemas.openxmlformats.org/officeDocument/2006/relationships/notesSlide" Target="/ppt/notesSlides/notesSlide6.xml" Id="R55a81989abc445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6cf9cfe834ad2" /><Relationship Type="http://schemas.openxmlformats.org/officeDocument/2006/relationships/notesSlide" Target="/ppt/notesSlides/notesSlide7.xml" Id="R3e990bc6b35d4f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a5b428aab24e2a" /><Relationship Type="http://schemas.openxmlformats.org/officeDocument/2006/relationships/notesSlide" Target="/ppt/notesSlides/notesSlide8.xml" Id="R1f8e2d2b8a7543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53f9dfcda44ac" /><Relationship Type="http://schemas.openxmlformats.org/officeDocument/2006/relationships/notesSlide" Target="/ppt/notesSlides/notesSlide9.xml" Id="Rc00060cdbd4e48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b39a1425f41c4" /><Relationship Type="http://schemas.openxmlformats.org/officeDocument/2006/relationships/notesSlide" Target="/ppt/notesSlides/notesSlide10.xml" Id="R9d4b9ebb568a4e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460F3C-CDEC-4F0E-B2DE-D61CC21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8DAFC4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9905F-96D7-4841-A4C4-BBBF385D9B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20170181b4e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D8B2C335-0108-4C43-A2C5-39D4D5A5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143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หุ่นยนต์สันทนาการ</a:t>
            </a:r>
          </a:p>
          <a:p xmlns:a="http://schemas.openxmlformats.org/drawingml/2006/main">
            <a:pPr algn="l">
              <a:defRPr sz="45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อัจฉริยะ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0AE5459-AB0D-49A0-9A62-F2492816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69E5F4"/>
                </a:solidFill>
                <a:latin typeface="Tahoma"/>
                <a:ea typeface="Tahoma"/>
                <a:cs typeface="Tahoma"/>
              </a:rPr>
              <a:t>Smart Recreational Robot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5BFF85E-DEAD-4F50-B251-4BDB87E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ควบคุมผ่านเว็บ เล่นเพลง เต้น</a:t>
            </a:r>
          </a:p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และเดินหลบสิ่งกีดขวาง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E738F9C-BB91-4BC9-BA4D-7D20267B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43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C1D5E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C1D5E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1D5E2"/>
                </a:solidFill>
                <a:latin typeface="Tahoma"/>
                <a:ea typeface="Tahoma"/>
                <a:cs typeface="Tahoma"/>
              </a:rPr>
              <a:t>ภาพแนวคิด</a:t>
            </a:r>
          </a:p>
        </p:txBody>
      </p:sp>
    </p:spTree>
    <p:extLst>
      <p:ext uri="{BB962C8B-B14F-4D97-AF65-F5344CB8AC3E}">
        <p14:creationId xmlns:p14="http://schemas.microsoft.com/office/powerpoint/2010/main" val="1574003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FD32D8-4066-4471-8365-EA2877C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แนวคิดและวัตถุประสงค์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A01EEB-94C7-4426-B521-E3F4611B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8DAFC4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3662FFD-72CC-434F-B86D-48F4EEC9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กิจกรรม</a:t>
            </a:r>
          </a:p>
          <a:p xmlns:a="http://schemas.openxmlformats.org/drawingml/2006/main">
            <a:pPr algn="l">
              <a:defRPr sz="48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สันทนาการ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509534A-36CD-4181-A17B-AC32514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193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เพิ่มการมีส่วนร่วมด้วยเพลง</a:t>
            </a:r>
          </a:p>
          <a:p xmlns:a="http://schemas.openxmlformats.org/drawingml/2006/main">
            <a:pPr algn="l">
              <a:defRPr sz="24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สีหน้า และท่าทางของหุ่นยนต์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D56988D-944F-42CB-BCC9-AD1D93F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6235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เรียนรู้ระบบฝังตัวจากการควบคุมผ่านเว็บ</a:t>
            </a:r>
          </a:p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และการตอบสนองต่อเซนเซอร์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5773D2C-4F85-4DB9-B33D-A85D47E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EC5D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EC5D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AEC5D8"/>
                </a:solidFill>
                <a:latin typeface="Tahoma"/>
                <a:ea typeface="Tahoma"/>
                <a:cs typeface="Tahoma"/>
              </a:rPr>
              <a:t>ตอบสนองด้วยเซนเซอร์และกฎในโปรแกรม</a:t>
            </a:r>
          </a:p>
        </p:txBody>
      </p:sp>
    </p:spTree>
    <p:extLst>
      <p:ext uri="{BB962C8B-B14F-4D97-AF65-F5344CB8AC3E}">
        <p14:creationId xmlns:p14="http://schemas.microsoft.com/office/powerpoint/2010/main" val="964692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E67C77-7D8B-414A-A9DB-563B7ED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อุปกรณ์หลักของหุ่นยนต์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DDB6FE-3181-4DAC-A91F-E775F5C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32E24-E85F-4606-AB21-A09FEDCDC4F5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33875"/>
                <a:gridCol w="1476375"/>
                <a:gridCol w="5162550"/>
              </a:tblGrid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6F9FC"/>
                          </a:solidFill>
                          <a:latin typeface="Tahoma"/>
                          <a:ea typeface="Tahoma"/>
                          <a:cs typeface="Tahoma"/>
                        </a:rPr>
                        <a:t>อุปกรณ์</a:t>
                      </a:r>
                    </a:p>
                  </a:txBody>
                  <a:tcPr marL="91440" marR="91440" marT="45720" marB="45720" anchor="ctr">
                    <a:solidFill>
                      <a:srgbClr val="11283D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6F9FC"/>
                          </a:solidFill>
                          <a:latin typeface="Tahoma"/>
                          <a:ea typeface="Tahoma"/>
                          <a:cs typeface="Tahoma"/>
                        </a:rPr>
                        <a:t>จำนวน</a:t>
                      </a:r>
                    </a:p>
                  </a:txBody>
                  <a:tcPr marL="91440" marR="91440" marT="45720" marB="45720" anchor="ctr">
                    <a:solidFill>
                      <a:srgbClr val="11283D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6F9FC"/>
                          </a:solidFill>
                          <a:latin typeface="Tahoma"/>
                          <a:ea typeface="Tahoma"/>
                          <a:cs typeface="Tahoma"/>
                        </a:rPr>
                        <a:t>หน้าที่</a:t>
                      </a:r>
                    </a:p>
                  </a:txBody>
                  <a:tcPr marL="91440" marR="91440" marT="45720" marB="45720" anchor="ctr">
                    <a:solidFill>
                      <a:srgbClr val="11283D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ESP32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บอร์ด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ประมวลผลและเชื่อมต่อ Wi-Fi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Ultrasonic HC-SR05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ตัว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วัดระยะและสแกนซ้าย–ขวา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เซอร์โวมอเตอร์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3 ตัว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หมุนหัว 1 ตัว และขยับแขน 2 ตัว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มอเตอร์เกียร์ DC แบบ TT 1:48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2 ตัว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ขับเคลื่อนล้อซ้ายและขวา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ไดรเวอร์มอเตอร์ L9110S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โมดูล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ควบคุมทิศทางการหมุนมอเตอร์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OLED SH1106 128×64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จอ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แสดงสีหน้าและสถานะ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เซนเซอร์เสียง KY-037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โมดูล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ตรวจจับเสียงและจังหวะ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Buzzer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ตัว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เล่นเพลงและเสียงเอฟเฟกต์</a:t>
                      </a:r>
                    </a:p>
                  </a:txBody>
                  <a:tcPr marL="91440" marR="91440" marT="45720" marB="45720" anchor="ctr">
                    <a:solidFill>
                      <a:srgbClr val="ECF2F7"/>
                    </a:solidFill>
                  </a:tcPr>
                </a:tc>
              </a:tr>
              <a:tr h="457200"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Step-down 5V 3A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1 โมดูล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  <a:tc>
                  <a:txBody>
                    <a:bodyPr lIns="123825" tIns="66675" rIns="9525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83D"/>
                          </a:solidFill>
                          <a:latin typeface="Tahoma"/>
                          <a:ea typeface="Tahoma"/>
                          <a:cs typeface="Tahoma"/>
                        </a:rPr>
                        <a:t>ปรับแรงดันไฟเลี้ยง</a:t>
                      </a:r>
                    </a:p>
                  </a:txBody>
                  <a:tcPr marL="91440" marR="91440" marT="45720" marB="45720" anchor="ctr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768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A6618-084D-4574-BE7D-F2E702F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สมองและเซนเซอร์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0B6A0F-AC99-404C-8AFD-A9DAC4A8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E30549A-873A-487D-BB8A-C85A4E43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ESP32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27B73C1-B2CB-4BFF-BDC6-21E90617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731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รับข้อมูลเซนเซอร์ ควบคุมอุปกรณ์</a:t>
            </a:r>
          </a:p>
          <a:p xmlns:a="http://schemas.openxmlformats.org/drawingml/2006/main">
            <a: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และให้บริการหน้าเว็บผ่าน Wi-Fi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8D3D73E-7D65-4ADC-ADC2-D72460E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HC-SR05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4EA2A5C-FE7B-48B1-9BCB-19151CD8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731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วัดระยะด้านหน้า และวัดซ้าย–ขวา</a:t>
            </a:r>
          </a:p>
          <a:p xmlns:a="http://schemas.openxmlformats.org/drawingml/2006/main">
            <a: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เมื่อเซอร์โวหมุนหัวไปยังแต่ละด้าน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421FA33-AFD0-4274-B05A-AEBEBC2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KY-037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8E24553-CBEC-4B96-9C00-A34F5B9A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731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ตรวจจับระดับเสียงและจังหวะปรบมือ</a:t>
            </a:r>
          </a:p>
          <a:p xmlns:a="http://schemas.openxmlformats.org/drawingml/2006/main">
            <a:pPr algn="l">
              <a:defRPr sz="210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เพื่อใช้ในโหมดสันทนาการ</a:t>
            </a:r>
          </a:p>
        </p:txBody>
      </p:sp>
    </p:spTree>
    <p:extLst>
      <p:ext uri="{BB962C8B-B14F-4D97-AF65-F5344CB8AC3E}">
        <p14:creationId xmlns:p14="http://schemas.microsoft.com/office/powerpoint/2010/main" val="1576886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431A80-7434-42AB-B201-B7D5801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การเคลื่อนไหวและการแสดงออก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71635A-2DC7-433B-B980-587E1A12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AA903B9-D1D5-448F-ABE0-C6A836C0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มอเตอร์ 2 ตัว + L9110S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16D39D3-8F9A-467B-B34F-DDB0577B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14500"/>
            <a:ext cx="650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เดินหน้า ถอยหลัง และเลี้ยว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46214DA-6795-450E-9276-E7A9F68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เซอร์โวหัว 1 ตัว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4D05B25-6CB8-40D5-8974-948DDAFD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19375"/>
            <a:ext cx="650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หันหัวเพื่อสแกนซ้ายและขวา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F4F101D-80D5-4653-AF78-45EC98AF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เซอร์โวแขน 2 ตัว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527FC46-D586-49AF-9A7F-24247E6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24250"/>
            <a:ext cx="650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ขยับแขนตามท่าทางและเพลง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D8CC1A8-F928-4841-94C7-9E77854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OLED SH1106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4D9F625-97BB-45DE-A51D-BECD0C0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29125"/>
            <a:ext cx="650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แสดงสีหน้าและสถานะการทำงาน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6892C5E-80B0-4189-9BD7-4327518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Buzzer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0FCD883-FF36-458E-B76D-7EB64D0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334000"/>
            <a:ext cx="650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เล่นโน้ตเพลงและเสียงเอฟเฟกต์</a:t>
            </a:r>
          </a:p>
        </p:txBody>
      </p:sp>
    </p:spTree>
    <p:extLst>
      <p:ext uri="{BB962C8B-B14F-4D97-AF65-F5344CB8AC3E}">
        <p14:creationId xmlns:p14="http://schemas.microsoft.com/office/powerpoint/2010/main" val="452060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BC1F73-4EA4-4DCC-8C00-A948C87A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โครงสร้างและไฟเลี้ยง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0717FA-6102-4ACB-94CA-A47BB69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8A3D6A-1E12-45FD-AC03-D33C294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5V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983DC6A-A7AF-4DA1-9EB9-9DA0D044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Step-down พิกัด 3A</a:t>
            </a:r>
          </a:p>
          <a:p xmlns:a="http://schemas.openxmlformats.org/drawingml/2006/main">
            <a: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ปรับแรงดันสำหรับไฟเลี้ยง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6C861C8-8518-4F71-8B8A-A1DD44B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71650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ส่วนประกอบเพิ่มเติม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999908F-D9CD-4A2F-BD33-273287C7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14600"/>
            <a:ext cx="6238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แหล่งจ่ายไฟหรือแบตเตอรี่</a:t>
            </a:r>
          </a:p>
          <a:p xmlns:a="http://schemas.openxmlformats.org/drawingml/2006/main">
            <a: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ฐานหุ่นยนต์และชุดล้อ</a:t>
            </a:r>
          </a:p>
          <a:p xmlns:a="http://schemas.openxmlformats.org/drawingml/2006/main">
            <a:pPr algn="l">
              <a:defRPr sz="21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สายไฟ ขั้วต่อ และอุปกรณ์ยึด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6A96A84-9253-40A5-BB04-0029CFA4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29150"/>
            <a:ext cx="623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ข้อมูลที่ยังไม่ได้ระบุ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3F50BC2-534F-49D4-8AE6-0E88D5F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81600"/>
            <a:ext cx="6238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รุ่นเซอร์โว ชนิดและความจุแบตเตอรี่</a:t>
            </a:r>
          </a:p>
          <a:p xmlns:a="http://schemas.openxmlformats.org/drawingml/2006/main">
            <a:pPr algn="l">
              <a:defRPr sz="19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รวมถึงรายละเอียดฐานหุ่น</a:t>
            </a:r>
          </a:p>
        </p:txBody>
      </p:sp>
    </p:spTree>
    <p:extLst>
      <p:ext uri="{BB962C8B-B14F-4D97-AF65-F5344CB8AC3E}">
        <p14:creationId xmlns:p14="http://schemas.microsoft.com/office/powerpoint/2010/main" val="233616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41EC3C-82D7-4A73-A7FA-F0C138F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โหมดการทำงาน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288914-1D3A-47E8-8818-FC56AF14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8DAFC4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71B249F-B6C2-4141-83FB-4DA40453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Manual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6EC9AF2-C2CF-4EB4-946B-0E7B135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09750"/>
            <a:ext cx="7648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ควบคุมหุ่นยนต์โดยตรงจากเว็บ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E60D769-045E-4192-B951-8ED24862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Party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13A0DF3-215D-41E1-BD70-DB2C9401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05125"/>
            <a:ext cx="7648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ขยับท่าทางตามเสียงและจังหวะ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BE06C4E-4D8F-447F-9FB5-90A2CB7E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Interactive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18D4FDC-AEA6-49A8-8503-AD97F516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00500"/>
            <a:ext cx="7648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เดินอิสระและหลบสิ่งกีดขวาง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5FB583C-1AD2-4DA1-BCAC-EDDF830F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Showcase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ACBD237-5699-48CC-8072-5200A076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095875"/>
            <a:ext cx="7648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เล่นเพลงพร้อมท่าทางและสีหน้า</a:t>
            </a:r>
          </a:p>
        </p:txBody>
      </p:sp>
    </p:spTree>
    <p:extLst>
      <p:ext uri="{BB962C8B-B14F-4D97-AF65-F5344CB8AC3E}">
        <p14:creationId xmlns:p14="http://schemas.microsoft.com/office/powerpoint/2010/main" val="1317441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7DE10-B7B3-414C-9AB6-B3363D9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ลำดับการหลบสิ่งกีดขวาง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4EB81F-4AD4-4D5F-90F5-763FA3D7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8DAFC4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EA98540-C50A-466E-84EA-9AE13B5C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374E648-2481-4649-B038-D4261357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00200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วัดระยะด้านหน้า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C34B1BC-3D6F-46CB-96CF-8CB47E01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5D63B35-DE25-44BF-9EA9-19808AB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หยุดและถอยเมื่อใกล้สิ่งกีดขวาง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A38DEE0-0A38-4823-AB1C-A905A93A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8C8370C-9BE7-48D7-A7BD-7F0FCAAF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67050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หยุดล้อ แล้วหันหัววัดซ้าย–ขวา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8F77988-DC3F-4C5E-BF8B-96321148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2D99462-BC26-4911-A648-56B53137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0047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คืนหัวกลาง แล้วเลี้ยวไปด้านที่โล่งกว่า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B622CEA8-5D13-4E23-8278-91039A05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23DF07D-DAA4-4063-AB12-F30A6993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33900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วัดด้านหน้าใหม่ก่อนเดินต่อ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0544F756-EB42-4554-8596-4B870820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D391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D391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FD391"/>
                </a:solidFill>
                <a:latin typeface="Tahoma"/>
                <a:ea typeface="Tahoma"/>
                <a:cs typeface="Tahoma"/>
              </a:rPr>
              <a:t>ไม่มีสัญญาณสะท้อนกลับไม่ได้ยืนยันว่าพื้นที่โล่ง</a:t>
            </a:r>
          </a:p>
        </p:txBody>
      </p:sp>
    </p:spTree>
    <p:extLst>
      <p:ext uri="{BB962C8B-B14F-4D97-AF65-F5344CB8AC3E}">
        <p14:creationId xmlns:p14="http://schemas.microsoft.com/office/powerpoint/2010/main" val="151899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BCEEE1-A3AE-4D26-A1A5-28063D0B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การควบคุมผ่านเว็บ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97BE24-1DA1-4EA6-9619-88EDD0B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A114A2-4F95-4149-93F5-90C1E705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619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เชื่อม Wi-Fi</a:t>
            </a:r>
          </a:p>
          <a:p xmlns:a="http://schemas.openxmlformats.org/drawingml/2006/main">
            <a:pPr algn="l">
              <a:defRPr sz="34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แล้วเปิด IP บน OLED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517EF63-22EE-4172-9152-ACA23AF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เข้าผ่านเครือข่ายเดิม</a:t>
            </a:r>
          </a:p>
          <a:p xmlns:a="http://schemas.openxmlformats.org/drawingml/2006/main">
            <a:pPr algn="l">
              <a:defRPr sz="2025" b="0">
                <a:solidFill>
                  <a:srgbClr val="546B7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46B7F"/>
                </a:solidFill>
                <a:latin typeface="Tahoma"/>
                <a:ea typeface="Tahoma"/>
                <a:cs typeface="Tahoma"/>
              </a:rPr>
              <a:t>หรือ AP ชื่อ Robot-Recreation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5B0CE09-D014-4C9A-8601-303C0735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9070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ควบคุม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C1D1E98-D0D0-44D4-933C-8F5ADE96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90700"/>
            <a:ext cx="3695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เลือกโหมด เพลง สีหน้า</a:t>
            </a:r>
          </a:p>
          <a:p xmlns:a="http://schemas.openxmlformats.org/drawingml/2006/main">
            <a:pPr algn="l">
              <a:defRPr sz="195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ท่าทาง และสั่งหยุด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C2E3C9C-F24E-4D88-B788-25067D99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ตั้งค่า Hardware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01F64AC-098F-4766-9AA2-81703CD2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3248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ปรับค่าการทำงาน</a:t>
            </a:r>
          </a:p>
          <a:p xmlns:a="http://schemas.openxmlformats.org/drawingml/2006/main">
            <a:pPr algn="l">
              <a:defRPr sz="1875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และบันทึกการตั้งค่า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0469D17-A28B-4B36-9D4A-E1D7211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86300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A3B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6A3B5"/>
                </a:solidFill>
                <a:latin typeface="Tahoma"/>
                <a:ea typeface="Tahoma"/>
                <a:cs typeface="Tahoma"/>
              </a:rPr>
              <a:t>สถานะระบบ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5F269464-C874-4372-90EC-A8EA3806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ดูสถานะอุปกรณ์</a:t>
            </a:r>
          </a:p>
          <a:p xmlns:a="http://schemas.openxmlformats.org/drawingml/2006/main">
            <a:pPr algn="l">
              <a:defRPr sz="1950" b="0">
                <a:solidFill>
                  <a:srgbClr val="1128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1283D"/>
                </a:solidFill>
                <a:latin typeface="Tahoma"/>
                <a:ea typeface="Tahoma"/>
                <a:cs typeface="Tahoma"/>
              </a:rPr>
              <a:t>และข้อมูลการทำงาน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906633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7F397E-9CFD-4B44-8349-A2C2B9D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สถานะโครงงานและการสาธิต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B328E3-6CC9-4F2C-931D-5B3B2D65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8DAFC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8DAFC4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375961B-08F5-4C18-A9B9-AA823C42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Firmware 2.3.5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8DAE074-0E7B-45E1-BF62-3152AC3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คอมไพล์ ESP32 ผ่าน</a:t>
            </a:r>
          </a:p>
          <a:p xmlns:a="http://schemas.openxmlformats.org/drawingml/2006/main">
            <a:pPr algn="l">
              <a:defRPr sz="2025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ทดสอบซอฟต์แวร์หน้าเว็บผ่าน 28 รายการ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31875C3-6165-4AC4-A95F-E19D806B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6F9FC"/>
                </a:solidFill>
                <a:latin typeface="Tahoma"/>
                <a:ea typeface="Tahoma"/>
                <a:cs typeface="Tahoma"/>
              </a:rPr>
              <a:t>ลำดับการสาธิต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1A8F683-82CD-4361-89C1-B65479B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572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1  ควบคุมผ่านเว็บ</a:t>
            </a:r>
          </a:p>
          <a:p xmlns:a="http://schemas.openxmlformats.org/drawingml/2006/main">
            <a:pPr algn="l">
              <a:defRPr sz="21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2  แสดงเพลงและท่าทาง</a:t>
            </a:r>
          </a:p>
          <a:p xmlns:a="http://schemas.openxmlformats.org/drawingml/2006/main">
            <a:pPr algn="l">
              <a:defRPr sz="2100" b="0">
                <a:solidFill>
                  <a:srgbClr val="F6F9F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6F9FC"/>
                </a:solidFill>
                <a:latin typeface="Tahoma"/>
                <a:ea typeface="Tahoma"/>
                <a:cs typeface="Tahoma"/>
              </a:rPr>
              <a:t>3  ทดลองหลบสิ่งกีดขวาง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624C22A-000F-4961-959C-3B8B6E47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D391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D39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D391"/>
                </a:solidFill>
                <a:latin typeface="Tahoma"/>
                <a:ea typeface="Tahoma"/>
                <a:cs typeface="Tahoma"/>
              </a:rPr>
              <a:t>ยังต้องทดสอบการเคลื่อนที่และการหลบสิ่งกีดขวางบนหุ่นยนต์จริง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8EC9793-6C1B-4E7D-B640-74A8BF90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69E5F4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69E5F4"/>
                </a:solidFill>
                <a:latin typeface="Tahoma"/>
                <a:ea typeface="Tahoma"/>
                <a:cs typeface="Tahoma"/>
              </a:rPr>
              <a:t>ถาม–ตอบ</a:t>
            </a:r>
          </a:p>
        </p:txBody>
      </p:sp>
    </p:spTree>
    <p:extLst>
      <p:ext uri="{BB962C8B-B14F-4D97-AF65-F5344CB8AC3E}">
        <p14:creationId xmlns:p14="http://schemas.microsoft.com/office/powerpoint/2010/main" val="1356422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2026-10-08T17:49:39.5370000Z</dcterms:created>
  <dcterms:modified xsi:type="dcterms:W3CDTF">2026-10-08T17:49:39.5370000Z</dcterms:modified>
</coreProperties>
</file>